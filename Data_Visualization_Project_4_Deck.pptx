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5F3"/>
                </a:solidFill>
                <a:latin typeface="Aptos"/>
              </a:rPr>
              <a:t>Turning e-commerce orders into
boardroom-ready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337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AEB8B2"/>
                </a:solidFill>
                <a:latin typeface="Aptos"/>
              </a:rPr>
              <a:t>Project 4 • E-commerce Order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3383280" cy="13258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58F6F"/>
                </a:solidFill>
                <a:latin typeface="Aptos"/>
              </a:rPr>
              <a:t>DATA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663440"/>
            <a:ext cx="29260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1,200 orders
Jan 2023 – Jun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069080"/>
            <a:ext cx="3383280" cy="13258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CORE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663440"/>
            <a:ext cx="29260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Product • Revenue
Payment • Referral •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069080"/>
            <a:ext cx="3383280" cy="13258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C8223"/>
                </a:solidFill>
                <a:latin typeface="Aptos"/>
              </a:rPr>
              <a:t>DESIGN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663440"/>
            <a:ext cx="29260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One message per slide
Direct labels • No chartjunk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The analysis is designed around business questions—not around chart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74720" cy="4297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58F6F"/>
                </a:solidFill>
                <a:latin typeface="Aptos"/>
              </a:rPr>
              <a:t>1 •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Business question → analytical need → visual solution
• Compare categories with bars
• Show time trends with lines
• Test relationships with scatter plots
• Use stacked bars for composition
Bar axes start at zero. Avoid 3D and distortion.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4297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2 •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Maximize data-ink and remove distractions.
• No heavy grids or decorative backgrounds
• Direct-label where possible
• Use color mainly for emphasis
• Keep one accent color for the key insight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474720" cy="4297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C8223"/>
                </a:solidFill>
                <a:latin typeface="Aptos"/>
              </a:rPr>
              <a:t>3 • STORYTELLER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Every slide answers “so what?”
• Action title states the conclusion
• One slide = one message
• Use Situation → Complication → Resolution
• Make the point visible within 5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Analysis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Questions mapped directly to the recommended visual 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94960" cy="114300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PRODUCT / CATEGORY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Which products or categories generate the most orders and revenue?  →  Bar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94960" cy="114300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58F6F"/>
                </a:solidFill>
                <a:latin typeface="Aptos"/>
              </a:rPr>
              <a:t>REVENUE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How does revenue change from Jan 2023 to Jun 2025?  →  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394960" cy="114300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C8223"/>
                </a:solidFill>
                <a:latin typeface="Aptos"/>
              </a:rPr>
              <a:t>REFERRAL / PAYMENT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79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How is the order base distributed across sources or payment methods?  →  Stacked bar / 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88920"/>
            <a:ext cx="5394960" cy="114300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ORDER VALUE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79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Does order value vary with another numeric field, if available?  →  Scatter plot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927080" cy="114300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469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58F6F"/>
                </a:solidFill>
                <a:latin typeface="Aptos"/>
              </a:rPr>
              <a:t>DATA VALIDATION BEFORE STORYTELLING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104698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Check dates, missing values, duplicate orders, revenue units, status definitions, and category consistency before calculating insights.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[ACTION TITLE] — Product performance reveals the key revenue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Replace the bracketed title after calculating the actual ranking from the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406640" cy="4526280"/>
          </a:xfrm>
          <a:prstGeom prst="roundRect">
            <a:avLst/>
          </a:prstGeom>
          <a:solidFill>
            <a:srgbClr val="161C19"/>
          </a:solidFill>
          <a:ln>
            <a:solidFill>
              <a:srgbClr val="46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F91FF"/>
                </a:solidFill>
                <a:latin typeface="Aptos"/>
              </a:rPr>
              <a:t>HORIZONTAL BAR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60420"/>
            <a:ext cx="67665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2F5F3"/>
                </a:solidFill>
                <a:latin typeface="Aptos"/>
              </a:rPr>
              <a:t>Top products / categories by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5440680"/>
            <a:ext cx="6766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EB8B2"/>
                </a:solidFill>
                <a:latin typeface="Aptos"/>
              </a:rPr>
              <a:t>Actual dataset values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3154680" cy="2011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11680"/>
            <a:ext cx="2697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Insert the measured result here:
“[Category/Product] generated [X%] of total revenue.”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611880"/>
            <a:ext cx="3154680" cy="233172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79476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C8223"/>
                </a:solidFill>
                <a:latin typeface="Aptos"/>
              </a:rPr>
              <a:t>SO WHAT?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06240"/>
            <a:ext cx="2697480" cy="1600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Explain the business implication using the actual data—for example, concentration, assortment focus, or a category requiring investigation.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[ACTION TITLE] — Revenue trend highlights the periods that changed the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Use monthly aggregation so the shape of the Jan 2023–Jun 2025 trend remains visible.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406640" cy="4526280"/>
          </a:xfrm>
          <a:prstGeom prst="roundRect">
            <a:avLst/>
          </a:prstGeom>
          <a:solidFill>
            <a:srgbClr val="161C19"/>
          </a:solidFill>
          <a:ln>
            <a:solidFill>
              <a:srgbClr val="46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F91FF"/>
                </a:solidFill>
                <a:latin typeface="Aptos"/>
              </a:rPr>
              <a:t>LINE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60420"/>
            <a:ext cx="67665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2F5F3"/>
                </a:solidFill>
                <a:latin typeface="Aptos"/>
              </a:rPr>
              <a:t>Monthly revenue, Jan 2023 – Jun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5440680"/>
            <a:ext cx="6766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EB8B2"/>
                </a:solidFill>
                <a:latin typeface="Aptos"/>
              </a:rPr>
              <a:t>Actual dataset values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3154680" cy="2011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58F6F"/>
                </a:solidFill>
                <a:latin typeface="Aptos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11680"/>
            <a:ext cx="2697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Insert the measured result:
“Revenue [rose/fell] [X%] between [periods].”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611880"/>
            <a:ext cx="3154680" cy="233172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79476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SO WHAT?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06240"/>
            <a:ext cx="2697480" cy="1600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Identify the strongest period, any sustained change, and any anomaly worth investigating. Do not infer causes unless the dataset supports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[ACTION TITLE] — Referral and payment patterns show where orders originate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Choose the visual after inspecting category counts and whether composition is the real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406640" cy="4526280"/>
          </a:xfrm>
          <a:prstGeom prst="roundRect">
            <a:avLst/>
          </a:prstGeom>
          <a:solidFill>
            <a:srgbClr val="161C19"/>
          </a:solidFill>
          <a:ln>
            <a:solidFill>
              <a:srgbClr val="46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F91FF"/>
                </a:solidFill>
                <a:latin typeface="Aptos"/>
              </a:rPr>
              <a:t>STACKED BAR / BAR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60420"/>
            <a:ext cx="67665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2F5F3"/>
                </a:solidFill>
                <a:latin typeface="Aptos"/>
              </a:rPr>
              <a:t>Orders or revenue by referral source / payment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5440680"/>
            <a:ext cx="6766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EB8B2"/>
                </a:solidFill>
                <a:latin typeface="Aptos"/>
              </a:rPr>
              <a:t>Actual dataset values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3154680" cy="201168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C8223"/>
                </a:solidFill>
                <a:latin typeface="Aptos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11680"/>
            <a:ext cx="2697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Insert the measured result:
“[Source/Method] accounts for [X%] of [orders/revenue].”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611880"/>
            <a:ext cx="3154680" cy="2331720"/>
          </a:xfrm>
          <a:prstGeom prst="roundRect">
            <a:avLst/>
          </a:prstGeom>
          <a:solidFill>
            <a:srgbClr val="1C2320"/>
          </a:solidFill>
          <a:ln>
            <a:solidFill>
              <a:srgbClr val="2D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79476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91FF"/>
                </a:solidFill>
                <a:latin typeface="Aptos"/>
              </a:rPr>
              <a:t>SO WHAT?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06240"/>
            <a:ext cx="2697480" cy="1600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2F5F3"/>
                </a:solidFill>
                <a:latin typeface="Aptos"/>
              </a:rPr>
              <a:t>Connect the finding to the business question. Keep the interpretation descriptive unless the dataset includes evidence for causation.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2F5F3"/>
                </a:solidFill>
                <a:latin typeface="Aptos"/>
              </a:rPr>
              <a:t>Quality-control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EB8B2"/>
                </a:solidFill>
                <a:latin typeface="Aptos"/>
              </a:rPr>
              <a:t>Final review against the Data Visualization Cheat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258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Chart type matches the 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92807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Bar chart baseline starts at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97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5973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No 3D effects, unnecessary borders, or heavy gridlines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2666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664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Direct labels replace legends where practical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9359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One accent color highlights the key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605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Action title states the conclusion, not just the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274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27448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One slide communicates one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9437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F91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9437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2F5F3"/>
                </a:solidFill>
                <a:latin typeface="Aptos"/>
              </a:rPr>
              <a:t>Executive reader can understand the point in ~5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DC8223"/>
                </a:solidFill>
                <a:latin typeface="Aptos"/>
              </a:rPr>
              <a:t>DATA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897880"/>
            <a:ext cx="9509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EB8B2"/>
                </a:solidFill>
                <a:latin typeface="Aptos"/>
              </a:rPr>
              <a:t>The screenshots provide the dataset scope and visualization rules, but not the 1,200-row data itself. Final numerical insights and charts must be populated from the source CSV/XLSX.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EB8B2"/>
                </a:solidFill>
                <a:latin typeface="Aptos"/>
              </a:rPr>
              <a:t>Project 4 • Data Visualization •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